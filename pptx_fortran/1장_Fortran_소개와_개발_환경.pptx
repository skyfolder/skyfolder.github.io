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5E20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B5E20"/>
                </a:solidFill>
                <a:latin typeface="Malgun Gothic"/>
              </a:rPr>
              <a:t>C to F: computed in Fortran, plotted in Python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Fahrenheit</c:v>
                </c:pt>
              </c:strCache>
            </c:strRef>
          </c:tx>
          <c:spPr>
            <a:solidFill>
              <a:srgbClr val="B23A2E"/>
            </a:solidFill>
            <a:ln w="31750" cap="flat">
              <a:solidFill>
                <a:srgbClr val="B2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23A2E"/>
              </a:solidFill>
              <a:ln w="9525" cap="flat">
                <a:solidFill>
                  <a:srgbClr val="B2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-40</c:v>
                  </c:pt>
                  <c:pt idx="1">
                    <c:v>-30</c:v>
                  </c:pt>
                  <c:pt idx="2">
                    <c:v>-20</c:v>
                  </c:pt>
                  <c:pt idx="3">
                    <c:v>-10</c:v>
                  </c:pt>
                  <c:pt idx="4">
                    <c:v>0</c:v>
                  </c:pt>
                  <c:pt idx="5">
                    <c:v>10</c:v>
                  </c:pt>
                  <c:pt idx="6">
                    <c:v>20</c:v>
                  </c:pt>
                  <c:pt idx="7">
                    <c:v>30</c:v>
                  </c:pt>
                  <c:pt idx="8">
                    <c:v>40</c:v>
                  </c:pt>
                  <c:pt idx="9">
                    <c:v>50</c:v>
                  </c:pt>
                  <c:pt idx="10">
                    <c:v>60</c:v>
                  </c:pt>
                  <c:pt idx="11">
                    <c:v>70</c:v>
                  </c:pt>
                  <c:pt idx="12">
                    <c:v>80</c:v>
                  </c:pt>
                  <c:pt idx="13">
                    <c:v>90</c:v>
                  </c:pt>
                  <c:pt idx="14">
                    <c:v>100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-40</c:v>
                </c:pt>
                <c:pt idx="1">
                  <c:v>-22</c:v>
                </c:pt>
                <c:pt idx="2">
                  <c:v>-4</c:v>
                </c:pt>
                <c:pt idx="3">
                  <c:v>14</c:v>
                </c:pt>
                <c:pt idx="4">
                  <c:v>32</c:v>
                </c:pt>
                <c:pt idx="5">
                  <c:v>50</c:v>
                </c:pt>
                <c:pt idx="6">
                  <c:v>68</c:v>
                </c:pt>
                <c:pt idx="7">
                  <c:v>86</c:v>
                </c:pt>
                <c:pt idx="8">
                  <c:v>104</c:v>
                </c:pt>
                <c:pt idx="9">
                  <c:v>122</c:v>
                </c:pt>
                <c:pt idx="10">
                  <c:v>140</c:v>
                </c:pt>
                <c:pt idx="11">
                  <c:v>158</c:v>
                </c:pt>
                <c:pt idx="12">
                  <c:v>176</c:v>
                </c:pt>
                <c:pt idx="13">
                  <c:v>194</c:v>
                </c:pt>
                <c:pt idx="14">
                  <c:v>212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B6F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B6F"/>
                    </a:solidFill>
                    <a:latin typeface="Arial"/>
                  </a:rPr>
                  <a:t>Celsius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6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7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B6F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B6F"/>
                    </a:solidFill>
                    <a:latin typeface="Arial"/>
                  </a:rPr>
                  <a:t>Fahrenheit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6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1장 도입부. Fortran은 1957년 IBM에서 태어난 세계 최초의 널리 쓰인 고급 언어이며, 이름은 Formula Translation의 줄임말이다.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장의 세 가지 목표: 이해 → 원리 → 실습.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도핑 → p-n 접합 → 트랜지스터 → 논리 게이트 → 가산기/레지스터 → CPU 로 이어지는 흐름을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표준은 꾸준히 개정되어 왔다. Fortran 90에서 자유형식·모듈이 들어오며 언어의 성격이 바뀌었다.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1 부 — 기초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85292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 소개와 개발 환경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B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Formula Translation, since 1957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컴퓨터의 작동 원리 · Fortran의 역사 · Colab + gfortran 실습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595360" y="1965960"/>
            <a:ext cx="2926080" cy="3154680"/>
          </a:xfrm>
          <a:prstGeom prst="roundRect">
            <a:avLst>
              <a:gd name="adj" fmla="val 2813"/>
            </a:avLst>
          </a:prstGeom>
          <a:solidFill>
            <a:srgbClr val="1B4429"/>
          </a:solidFill>
          <a:ln w="6350">
            <a:solidFill>
              <a:srgbClr val="1B4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2331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1957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595360" y="3337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최초의</a:t>
            </a:r>
            <a:endParaRPr lang="en-US" sz="13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프로그래밍 언어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95360" y="4389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IBM · John Backus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장에서 배우는 세 가지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0" y="1956816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Fortran에 대한 이해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28800" y="2414016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1957년에 태어난 언어가 왜 지금 다시 주목받는지, 현대 Fortran의 역사와 동향을 배운다.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57600"/>
            <a:ext cx="640080" cy="6400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28800" y="3557016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실행의 큰 그림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828800" y="4014216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코드가 트랜지스터 위에서 실행되기까지, 추상화 계층의 전 과정을 이해한다.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257800"/>
            <a:ext cx="640080" cy="6400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828800" y="5157216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· 실행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28800" y="5614416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코랩에 gfortran을 설치하고 직접 프로그램을 컴파일해 실행한다.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장이 끝나면 답할 수 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38528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697480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하필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Fortran인가?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3675888"/>
            <a:ext cx="29169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1957년의 언어가 어떻게 2024년 인기 순위를 다시 끌어올렸을까? 달 탐사 궤적 계산과 일기예보는 어떤 언어로 돌아갈까?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64592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38528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실행할 수 있을까?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675888"/>
            <a:ext cx="29169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컴파일러를 내 컴퓨터에 설치하지 않고, 브라우저만으로 Fortran 프로그램을 작성하고 실행해 결과를 볼 수 있을까?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164592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938528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02752" y="2697480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그림으로?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02752" y="3675888"/>
            <a:ext cx="29169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Fortran이 계산해 낸 결과를 한눈에 들어오는 그래프로 표현하려면 어떤 도구를 어떻게 이어 붙여야 할까?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8704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질문의 답이 곧 이 장의 내용이다.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 컴퓨터는 어떻게 명령을 수행하는가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 한 조각에서 CPU까지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993392" cy="658368"/>
          </a:xfrm>
          <a:prstGeom prst="roundRect">
            <a:avLst>
              <a:gd name="adj" fmla="val 12500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727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 도핑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33472" y="16733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62072" y="1572768"/>
            <a:ext cx="1993392" cy="658368"/>
          </a:xfrm>
          <a:prstGeom prst="roundRect">
            <a:avLst>
              <a:gd name="adj" fmla="val 12500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2072" y="15727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p-n 접합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55464" y="16733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84064" y="1572768"/>
            <a:ext cx="1993392" cy="658368"/>
          </a:xfrm>
          <a:prstGeom prst="roundRect">
            <a:avLst>
              <a:gd name="adj" fmla="val 12500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4064" y="15727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트랜지스터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77456" y="16733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06056" y="1572768"/>
            <a:ext cx="1993392" cy="658368"/>
          </a:xfrm>
          <a:prstGeom prst="roundRect">
            <a:avLst>
              <a:gd name="adj" fmla="val 12500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06056" y="15727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게이트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99448" y="16733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28048" y="1572768"/>
            <a:ext cx="1993392" cy="658368"/>
          </a:xfrm>
          <a:prstGeom prst="roundRect">
            <a:avLst>
              <a:gd name="adj" fmla="val 12500"/>
            </a:avLst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28048" y="15727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완성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395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전압이 높으면 1, 낮으면 0 — 트랜지스터는 게이트에 전압을 걸어 전류를 통제하는 아주 작은 전자 스위치다.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880360"/>
            <a:ext cx="2583180" cy="1737360"/>
          </a:xfrm>
          <a:prstGeom prst="roundRect">
            <a:avLst>
              <a:gd name="adj" fmla="val 4737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312724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96112" y="3703320"/>
            <a:ext cx="20711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1은 0으로, 0은 1로 뒤집는다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06140" y="2880360"/>
            <a:ext cx="2583180" cy="1737360"/>
          </a:xfrm>
          <a:prstGeom prst="roundRect">
            <a:avLst>
              <a:gd name="adj" fmla="val 4737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62172" y="312724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62172" y="3703320"/>
            <a:ext cx="20711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 모두 1일 때만 1을 낸다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2880360"/>
            <a:ext cx="2583180" cy="1737360"/>
          </a:xfrm>
          <a:prstGeom prst="roundRect">
            <a:avLst>
              <a:gd name="adj" fmla="val 4737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28232" y="312724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28232" y="3703320"/>
            <a:ext cx="20711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중 하나만 1이어도 1을 낸다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938260" y="2880360"/>
            <a:ext cx="2583180" cy="1737360"/>
          </a:xfrm>
          <a:prstGeom prst="roundRect">
            <a:avLst>
              <a:gd name="adj" fmla="val 4737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94292" y="312724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194292" y="3703320"/>
            <a:ext cx="20711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입력이 서로 다를 때만 1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93776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9377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게이트를 조립하면 덧셈기(가산기)가 되고, 거기에 레지스터와 메모리를 붙여 컴퓨터의 두뇌인 중앙처리장치(CPU)가 완성된다.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 추상화 계층 (Abstraction Layer)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트랜지스터에서 Fortran까지, 다섯 개의 층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3154680" cy="804672"/>
          </a:xfrm>
          <a:prstGeom prst="roundRect">
            <a:avLst>
              <a:gd name="adj" fmla="val 10227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459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최상위 소프트웨어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6112" y="1956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 / Python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69080" y="1536192"/>
            <a:ext cx="7178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수식을 영문자와 기호로 표현한다 (예: y = sin(x))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50592"/>
            <a:ext cx="3154680" cy="804672"/>
          </a:xfrm>
          <a:prstGeom prst="roundRect">
            <a:avLst>
              <a:gd name="adj" fmla="val 1022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560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 · 어셈블리어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6112" y="28712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Compiler / Assembly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69080" y="2450592"/>
            <a:ext cx="7178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언어를 CPU에 종속적인 기계 부호로 번역하는 연결 고리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64992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64992"/>
            <a:ext cx="3154680" cy="804672"/>
          </a:xfrm>
          <a:prstGeom prst="roundRect">
            <a:avLst>
              <a:gd name="adj" fmla="val 10227"/>
            </a:avLst>
          </a:prstGeom>
          <a:solidFill>
            <a:srgbClr val="4C8C4F"/>
          </a:solidFill>
          <a:ln w="12700">
            <a:solidFill>
              <a:srgbClr val="4C8C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4747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기계어와 ISA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96112" y="3785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 Code &amp; ISA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69080" y="3364992"/>
            <a:ext cx="7178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직접 해독하는 0과 1의 이진 명령어, 그리고 명령어 집합 규격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79392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279392"/>
            <a:ext cx="3154680" cy="804672"/>
          </a:xfrm>
          <a:prstGeom prst="roundRect">
            <a:avLst>
              <a:gd name="adj" fmla="val 10227"/>
            </a:avLst>
          </a:prstGeom>
          <a:solidFill>
            <a:srgbClr val="7FB069"/>
          </a:solidFill>
          <a:ln w="12700">
            <a:solidFill>
              <a:srgbClr val="7FB0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3891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논리 회로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96112" y="47000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5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Logic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69080" y="4279392"/>
            <a:ext cx="7178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· OR · NOT 게이트와 이들이 조합된 연산 장치(ALU), 레지스터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193792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193792"/>
            <a:ext cx="3154680" cy="804672"/>
          </a:xfrm>
          <a:prstGeom prst="roundRect">
            <a:avLst>
              <a:gd name="adj" fmla="val 10227"/>
            </a:avLst>
          </a:prstGeom>
          <a:solidFill>
            <a:srgbClr val="A8C79A"/>
          </a:solidFill>
          <a:ln w="12700">
            <a:solidFill>
              <a:srgbClr val="A8C7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3035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트랜지스터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96112" y="5614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5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Transistor / Physics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69080" y="5193792"/>
            <a:ext cx="7178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 웨이퍼에 새겨진 수백억 개의 전류 제어 스위치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14476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아래층의 복잡한 물리 현상은 숨기고(캡슐화), 위층에는 기능만 노출한다 — 그래서 수백억 개의 스위치를 다룰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 컴퓨터 언어의 진화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소프트웨어는 CPU와 메모리를 부리는 명령서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10512"/>
            <a:ext cx="566928" cy="56692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7922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(중앙처리장치)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오직 연산만을 위한 강력한 계산기. 스스로 오래 기억하지 못하므로 끊임없이 메모리에서 데이터를 받아 계산한다.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1051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17922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(기억장치)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21945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바로 꺼내 쓰도록 데이터를 보관하는 창고. 수식의 입력값과 연산 결과가 모두 이곳에 저장된다.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생각과 기계의 언어 사이의 간극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기계어</a:t>
            </a:r>
            <a:endParaRPr lang="en-US" sz="13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0과 1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36976" y="4572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447288" y="429768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42976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어셈블리어</a:t>
            </a:r>
            <a:endParaRPr lang="en-US" sz="13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저급 언어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044184" y="4572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254496" y="429768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42976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언어</a:t>
            </a:r>
            <a:endParaRPr lang="en-US" sz="13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851392" y="4572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061704" y="429768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1704" y="42976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컴파일러가</a:t>
            </a:r>
            <a:endParaRPr lang="en-US" sz="13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초창기에는 0과 1을 직접 타이핑했다. 짧은 수식 하나에 수십 줄이 필요했고 점 하나만 틀려도 밤을 새웠다. 그 간극을 메우려 고급 언어와 컴파일러가 등장했다.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 세계 최초의 고급 언어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FORmula TRANslation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D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자체가 “수식 번역”에서 왔다. 철저하게 과학 기술 계산을 위해 태어난 언어다.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1B4429"/>
          </a:solidFill>
          <a:ln w="6350">
            <a:solidFill>
              <a:srgbClr val="1B4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035808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John Backus가 IBM에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비용 절감을 제안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2057400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1B4429"/>
          </a:solidFill>
          <a:ln w="6350">
            <a:solidFill>
              <a:srgbClr val="1B4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228600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99432" y="3035808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최초의 FORTRAN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 탄생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10144" y="2057400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1B4429"/>
          </a:solidFill>
          <a:ln w="6350">
            <a:solidFill>
              <a:srgbClr val="1B4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10144" y="228600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천공카드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84464" y="3035808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키보드도 모니터도 없이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종이에 구멍을 뚫어 입력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B4429"/>
          </a:solidFill>
          <a:ln w="6350">
            <a:solidFill>
              <a:srgbClr val="1B4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7083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“사람이 읽고 이해할 수 있는 코드를 작성한다”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05840" y="484632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CD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오늘날 당연하게 여기는 이 상식이 바로 FORTRAN에서 시작되었다. 이후 함수와 서브루틴 같은 현대적 개념을 흡수하며 수십 년간 과학·공학계의 표준 도구로 자리 잡았다.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 아폴로 계획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인류를 달에 보낸 프로그래밍 언어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56816"/>
            <a:ext cx="603504" cy="6035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56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179222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지상의 메인프레임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194560"/>
            <a:ext cx="9418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우주선을 달까지 보내고 무사히 귀환시키려면 극도로 정밀한 궤도·궤적 계산과 연료 소모 시뮬레이션이 필요했다. 이 계산을 수행한 IBM 대형 컴퓨터를 움직인 주역이 FORTRAN이었다.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493008"/>
            <a:ext cx="603504" cy="6035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930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332841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Dorothy Vaughan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730752"/>
            <a:ext cx="9418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 《히든 피겨스》의 주인공. 전자식 컴퓨터 시대의 도래를 직감하고 독학으로 FORTRAN을 마스터한 뒤, 팀원 전원을 전문 프로그래머로 재교육했다.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45152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029200"/>
            <a:ext cx="603504" cy="6035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029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83080" y="48646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Copernicus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5266944"/>
            <a:ext cx="9418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NASA 존슨 우주센터는 지금도 우주선 궤적 최적화 프로그램 Copernicus를 Fortran으로 구동하며 그 독보적 성능을 입증하고 있다.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1996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아폴로 우주선 내부(AGC)에는 가벼운 어셈블리어가 실렸지만, 임무를 설계한 지상 시스템은 FORTRAN으로 돌아갔다.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레거시 FORTRAN에서 현대 Fortran으로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표준(ISO/IEC)의 진화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36192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7589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변화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FORTRAN 66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B6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1966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최초의 공식 표준. 파편화된 언어 사양을 하나로 규격화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FORTRAN 77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B6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1978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블록 if, 문자형(character) 도입. 고정형식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5E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Fortran 90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B6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자유형식, 모듈, 배열 연산, 동적 할당, 파생형 — 현대 Fortran의 시작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Fortran 95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B6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소규모 개선 (forall, pure, elemental 도입)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Fortran 2003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B6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객체지향 지원, C와의 상호 운용성, IEEE 부동소수점 반영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Fortran 2008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B6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 concurrent, block, 서브모듈, 코어레이(coarrays)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5E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Fortran 2018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B6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기능 강화, C 상호 운용성 개선 — 이 책의 기준선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Fortran 2023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B6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최신 표준. 여러 편의 기능 추가와 문법적 보완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1536192"/>
            <a:ext cx="10881360" cy="40233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361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0" y="15361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59936" y="153619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변화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 Fortran은 보통 Fortran 90 이후의 표준을 가리킨다.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현대 Fortran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 Fortran이 지향하는 네 가지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74520"/>
            <a:ext cx="548640" cy="5486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형식 (free form)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50976" y="2423160"/>
            <a:ext cx="4681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타자기와 천공카드 시절의 엄격한 칸수 제약에서 완전히 벗어나, 가독성과 개발 유연성을 갖춘 코드를 쓴다.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874520"/>
            <a:ext cx="548640" cy="5486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implicit none 의무화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28816" y="2423160"/>
            <a:ext cx="4681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변수를 쓰기 전에 선언하도록 강제해, 변수명 오타로 인한 버그를 컴파일 단계에서 원천 차단한다.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02152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776472"/>
            <a:ext cx="548640" cy="5486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776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776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 통째 연산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50976" y="4325112"/>
            <a:ext cx="4681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루프 없이 배열과 행렬을 하나의 덩어리로 연산해, 현대 CPU의 병렬 처리와 벡터화 성능을 끌어올린다.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502152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3776472"/>
            <a:ext cx="548640" cy="5486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776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776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모듈(module) 구조화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28816" y="4325112"/>
            <a:ext cx="4681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기능별로 코드를 분리·독립화해 대규모 공학 계산에서도 안전하게 데이터를 공유하고 인터페이스를 관리한다.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440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형식과 GOTO 중심의 스파게티 코드는 레거시 해독용 최소 지식으로만 다룬다. 모든 예제는 현대 Fortran 표준을 기준으로 진행한다.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알아두기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최신 2023이 아니라 2018인가?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10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요소는 이미 2008에 다 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26771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모듈, 동적 배열(allocatable), 파생형, block, 서브모듈, do concurrent — 입문 과정에서 가르칠 현대적 기능은 2008만으로 충분하다.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10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≠ 컴파일러 지원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26771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 기본 gfortran 11은 -std=f2018은 받아들이지만 -std=f2023은 아직 인식하지 못한다. 컴파일러 구현은 표준보다 늦다.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2011680"/>
          </a:xfrm>
          <a:prstGeom prst="roundRect">
            <a:avLst>
              <a:gd name="adj" fmla="val 4091"/>
            </a:avLst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370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책의 기준선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7365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 2018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577840" y="434340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FE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현대적 기능을 모두 갖추면서 이식성이 가장 높은 지점.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FE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2018·2023의 고급 병렬화와 C 상호 운용성 세부는 입문 범위를 넘는다.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생태계 속의 위치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Python · Fortran, 무엇이 다른가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502152" cy="3703320"/>
          </a:xfrm>
          <a:prstGeom prst="roundRect">
            <a:avLst>
              <a:gd name="adj" fmla="val 235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언어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53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운영체제 개발과 하드웨어 레지스터 직접 제어에 최적화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에일리어싱으로 루프 최적화가 막혀 성능 병목 발생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포인터와 메모리를 직접 관리하는 오버헤드가 크다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572768"/>
            <a:ext cx="3502152" cy="3703320"/>
          </a:xfrm>
          <a:prstGeom prst="roundRect">
            <a:avLst>
              <a:gd name="adj" fmla="val 235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17830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599432" y="228600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언어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2697480"/>
            <a:ext cx="2953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간결한 문법과 광활한 라이브러리 생태계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과학·AI 엔지니어링의 표준 인터페이스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인터프리터 언어라 부동소수점 처리 속도가 느리다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0144" y="1572768"/>
            <a:ext cx="3502152" cy="3703320"/>
          </a:xfrm>
          <a:prstGeom prst="roundRect">
            <a:avLst>
              <a:gd name="adj" fmla="val 2350"/>
            </a:avLst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84464" y="17830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284464" y="228600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초고성능 연산 언어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84464" y="2697480"/>
            <a:ext cx="2953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F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다차원 배열 연산이 언어 자체에 내장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F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공식을 교과서에 쓰인 형태 그대로 코딩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F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코어가 협업하는 HPC에서 압도적 속도와 안정성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440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Fortran이 선점한 자리는 명확하다 — 극한의 수치 계산(extreme scientific computing) 그 자체다.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알아두기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Fortran이 유독 빠른 진짜 이유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“열 방향(column-major)으로 저장해서 빠르다”는 흔한 설명은 데이터 배열 방식일 뿐이다. 진짜 비결은 따로 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1572768"/>
          </a:xfrm>
          <a:prstGeom prst="roundRect">
            <a:avLst>
              <a:gd name="adj" fmla="val 5233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9424"/>
            <a:ext cx="603504" cy="6035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494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21214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에일리어싱의 부재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2505456"/>
            <a:ext cx="9418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C에서는 여러 포인터가 같은 메모리를 가리킬 수 있어, 컴파일러가 “데이터가 꼬이면?” 하는 걱정에 보수적으로 최적화한다. Fortran은 서로 다른 배열이 메모리를 공유하지 않는다는 엄격한 규칙을 지키므로, 컴파일러가 루프를 과감히 쪼개고 뒤섞어 극단적으로 병렬화한다.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75888"/>
            <a:ext cx="10881360" cy="1298448"/>
          </a:xfrm>
          <a:prstGeom prst="roundRect">
            <a:avLst>
              <a:gd name="adj" fmla="val 6338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4005072"/>
            <a:ext cx="603504" cy="6035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0050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83080" y="387705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다차원 배열 연산의 태생적 최적화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83080" y="426110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 년간 기상 예측·천체 물리·양자역학 시뮬레이션을 처리하며 진화했다. 그 결과 컴파일러와 수치 라이브러리(BLAS, LAPACK)가 대형 행렬 처리에 기저부터 튜닝되어 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157216"/>
            <a:ext cx="10881360" cy="1298448"/>
          </a:xfrm>
          <a:prstGeom prst="roundRect">
            <a:avLst>
              <a:gd name="adj" fmla="val 6338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5486400"/>
            <a:ext cx="603504" cy="6035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486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83080" y="535838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파편화 없는 메모리 덩어리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83080" y="5742432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C에서 다차원 배열을 다루면 메모리가 사방에 흩어지기 쉽다. Fortran은 하나의 거대하고 연속된 덩어리로 할당하므로, CPU가 일렬로 늘어선 데이터를 막힘없이 쓸어 담는다.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AI 시대와 HPC 수요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1950년대의 언어, 순위를 역주행하다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B4429"/>
          </a:solidFill>
          <a:ln w="6350">
            <a:solidFill>
              <a:srgbClr val="1B4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10512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96112" y="251460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TIOBE 인덱스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20위권 복귀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6002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B4429"/>
          </a:solidFill>
          <a:ln w="6350">
            <a:solidFill>
              <a:srgbClr val="1B4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810512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81144" y="251460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한때 10위권 내 진입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현재도 상위권 유지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0144" y="16002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B4429"/>
          </a:solidFill>
          <a:ln w="6350">
            <a:solidFill>
              <a:srgbClr val="1B4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0144" y="1810512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HPC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66176" y="251460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GPU·클러스터에서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성능을 극한까지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881360" cy="1207008"/>
          </a:xfrm>
          <a:prstGeom prst="roundRect">
            <a:avLst>
              <a:gd name="adj" fmla="val 6818"/>
            </a:avLst>
          </a:prstGeom>
          <a:solidFill>
            <a:srgbClr val="1B4429"/>
          </a:solidFill>
          <a:ln w="6350">
            <a:solidFill>
              <a:srgbClr val="1B4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404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시뮬레이션의 연산 폭증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20624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9CD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학습·추론과 과학 시뮬레이션에는 막대한 수학 연산이 필요하다. Fortran은 수치 계산과 다차원 배열을 언어 수준에서 지원해 고성능 하드웨어의 성능을 끝까지 끌어낸다.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881360" cy="1207008"/>
          </a:xfrm>
          <a:prstGeom prst="roundRect">
            <a:avLst>
              <a:gd name="adj" fmla="val 6818"/>
            </a:avLst>
          </a:prstGeom>
          <a:solidFill>
            <a:srgbClr val="1B4429"/>
          </a:solidFill>
          <a:ln w="6350">
            <a:solidFill>
              <a:srgbClr val="1B44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120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자산의 유지보수와 확장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557784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9CD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예측, 항공우주, 원자력 등 세계의 핵심 인프라가 이미 Fortran으로 구축되어 있다. AI 시스템과 융합되며 이 자산을 최신 환경으로 확장하려는 움직임이 가속되었다.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 개발 환경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Colab + gfortran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03520" cy="2697480"/>
          </a:xfrm>
          <a:prstGeom prst="roundRect">
            <a:avLst>
              <a:gd name="adj" fmla="val 3051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1051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7922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Colab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0976" y="2450592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실행되는 무료 주피터 노트북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한 번에 우분투 리눅스 가상 머신 할당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셀 + 텍스트 셀, Shift+Enter로 실행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%%writefile 파일명 → 셀 내용을 파일로 저장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앞에 ! 를 붙이면 리눅스 셸 명령 실행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572768"/>
            <a:ext cx="5303520" cy="2697480"/>
          </a:xfrm>
          <a:prstGeom prst="roundRect">
            <a:avLst>
              <a:gd name="adj" fmla="val 3051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1051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17922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gfortran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28816" y="2450592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GNU 컴파일러 모음(GCC)에 포함된 무료·오픈소스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인텔 ifx 등 상업용도 있지만 입문에는 gfortran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어디서나 똑같이 동작해 학습 환경으로 최적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코랩에 기본 설치되어 있지 않아 직접 설치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설치와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5038344"/>
            <a:ext cx="48646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!apt-get install -y gfortran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!gfortran --version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489204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8920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런타임이 새로 시작되거나 연결이 끊기면 gfortran이 사라진다. 매 세션 첫 셀에 설치 명령을 넣어 두자.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 첫 프로그램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코랩에서 쓰는 세 종류의 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2743200"/>
          </a:xfrm>
          <a:prstGeom prst="roundRect">
            <a:avLst>
              <a:gd name="adj" fmla="val 300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74520"/>
            <a:ext cx="566928" cy="56692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5786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 코드 셀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32688" y="3017520"/>
            <a:ext cx="2916936" cy="384048"/>
          </a:xfrm>
          <a:prstGeom prst="roundRect">
            <a:avLst>
              <a:gd name="adj" fmla="val 11905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017520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%%writefile hello.f90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352044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줄에 %%writefile 파일명.f90 을 붙이면 아래 내용이 모두 텍스트 파일로 저장된다.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5112" y="1600200"/>
            <a:ext cx="3502152" cy="2743200"/>
          </a:xfrm>
          <a:prstGeom prst="roundRect">
            <a:avLst>
              <a:gd name="adj" fmla="val 300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874520"/>
            <a:ext cx="566928" cy="56692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25786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· 실행 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617720" y="3017520"/>
            <a:ext cx="2916936" cy="384048"/>
          </a:xfrm>
          <a:prstGeom prst="roundRect">
            <a:avLst>
              <a:gd name="adj" fmla="val 11905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017520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!gfortran ... / !./hello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17720" y="352044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리눅스 서버에서 수행되는 셸 명령이므로 각 줄 맨 앞에 느낌표(!)를 붙인다.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10144" y="1600200"/>
            <a:ext cx="3502152" cy="2743200"/>
          </a:xfrm>
          <a:prstGeom prst="roundRect">
            <a:avLst>
              <a:gd name="adj" fmla="val 3000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2752" y="1874520"/>
            <a:ext cx="566928" cy="56692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02752" y="25786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시각화 셀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302752" y="3017520"/>
            <a:ext cx="2916936" cy="384048"/>
          </a:xfrm>
          <a:prstGeom prst="roundRect">
            <a:avLst>
              <a:gd name="adj" fmla="val 11905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3017520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matplotlib...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02752" y="352044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Fortran이 내보낸 데이터 파일을 읽어와 그래프를 그리는 파이썬 코드를 적는다.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8006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[예제] 섭씨 온도를 화씨 온도로 변환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519379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인사말을 출력하고, 섭씨 −40도부터 100도까지 10도 간격으로 화씨로 변환한 표를 temp.csv 파일로 저장한 뒤, 파이썬으로 그래프를 그린다.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 Fortran 코드 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프로그램 hello.f90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6858000" cy="4480560"/>
          </a:xfrm>
          <a:prstGeom prst="roundRect">
            <a:avLst>
              <a:gd name="adj" fmla="val 1224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682496"/>
            <a:ext cx="641908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%%writefile hello.f90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hello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implicit none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integer :: i, u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real :: celsius, fahrenheit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print *, "Hello, Fortran!"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open(newunit=u, file="temp.csv", &amp;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status="replace", action="write")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write(u, '(A)') "celsius,fahrenheit"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 i = -40, 100, 10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celsius = real(i)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fahrenheit = celsius * 9.0 / 5.0 + 32.0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write(u, '(F8.2, ",", F8.2)') celsius, fahrenheit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end do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close(u)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print *, "temp.csv written"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program hello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18120" y="1536192"/>
            <a:ext cx="3703320" cy="1508760"/>
          </a:xfrm>
          <a:prstGeom prst="roundRect">
            <a:avLst>
              <a:gd name="adj" fmla="val 5455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7007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구조만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92440" y="203911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으로 시작해 end program 으로 끝나고, 둘째 줄에 implicit none 이 있으며, 변수를 먼저 선언한 뒤 계산하고 출력한다.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3172968"/>
            <a:ext cx="3703320" cy="1234440"/>
          </a:xfrm>
          <a:prstGeom prst="roundRect">
            <a:avLst>
              <a:gd name="adj" fmla="val 6667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92440" y="33375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이 한 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92440" y="367588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fahrenheit = celsius * 9.0 / 5.0 + 32.0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4535424"/>
            <a:ext cx="3703320" cy="1508760"/>
          </a:xfrm>
          <a:prstGeom prst="roundRect">
            <a:avLst>
              <a:gd name="adj" fmla="val 5455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470001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문법은 뒤에서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92440" y="5038344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선언부·실행부와 implicit none 의 원리는 2장, do 반복문과 파일 입출력은 5·6장에서 다룬다.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Fortran은 컴파일(번역) → 실행의 두 단계를 더 거친다. 코드를 고쳤다면 반드시 다시 컴파일해야 변경이 반영된다.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 컴파일 및 실행 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명령 한 줄 해부하기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682496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!gfortran -O2 -std=f2018 -Wall hello.f90 -o hello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50545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5054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233172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2단계. 연산 속도를 높이도록 컴파일러가 코드를 알아서 다듬는다.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331720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250545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25054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-std=f2018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92440" y="233172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 2018 규격을 강제한다. 표준 밖 레거시 확장을 쓰면 경고한다.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27832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401568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401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322783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잡아낼 수 있는 모든 경고를 켠다. 이 책 예제는 경고 없이 깨끗하게 컴파일된다.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227832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3401568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3401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hello.f90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92440" y="322783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컴파일할 대상 소스 파일.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123944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4297680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2976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 hello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4123944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파일 이름을 hello 로 지정. 생략하면 a.out 이 만들어진다.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123944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4297680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42976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!./hello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92440" y="4123944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만들어진 실행 파일을 실행한다. ./ 는 “현재 폴더”라는 뜻이다.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212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5541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Fortran!    ·    temp.csv written    →    같은 디렉터리에 temp.csv 생성 (!head temp.csv 로 확인)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 파이썬 시각화 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Fortran이 계산하고, Python이 그린다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36192"/>
          <a:ext cx="65836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36192"/>
            <a:ext cx="4023360" cy="1965960"/>
          </a:xfrm>
          <a:prstGeom prst="roundRect">
            <a:avLst>
              <a:gd name="adj" fmla="val 4186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90688" y="17190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790688" y="21031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Fortran은 격자 물리 연산과 행렬 대수를 가장 빠르고 안전하게 전담한 뒤 결과를 csv로 내보낸다. 그다음 표현력이 풍부한 파이썬이 matplotlib으로 그래프를 그린다.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3639312"/>
            <a:ext cx="4023360" cy="1874520"/>
          </a:xfrm>
          <a:prstGeom prst="roundRect">
            <a:avLst>
              <a:gd name="adj" fmla="val 4390"/>
            </a:avLst>
          </a:prstGeom>
          <a:solidFill>
            <a:srgbClr val="DCE8D6"/>
          </a:solidFill>
          <a:ln w="6350">
            <a:solidFill>
              <a:srgbClr val="DCE8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90688" y="37947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그래프에서 확인할 점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90688" y="41605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섭씨 0도 → 화씨 32도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섭씨 −40도 = 화씨 −40도 교차점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정비례 직선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5669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[흔한 실수] 코랩 기본 폰트에는 한글이 없어 그래프 라벨에 한글을 쓰면 네모(□)로 깨진다 — 라벨을 영문으로 쓰거나 나눔 폰트를 설치한다.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학습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Fortran에서 만나는 네 가지 오류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2880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에러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50976" y="2359152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단계에서 문법이 어긋나 멈춘다. 어디가 틀렸는지 알려 주므로 그나마 다루기 쉽다.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50976" y="2871216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9,8 → Unclassifiable statement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572768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182880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828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에러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28816" y="2359152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컴파일은 통과했지만 실행 중에 멈춘다. 존재하지 않는 파일을 읽으려는 경우가 대표적이다.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28816" y="2871216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실행 도중 정지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401568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" y="365760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657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반올림 에러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50976" y="4187952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실수를 2진수로 저장하며 생긴 미세한 오차가 쌓인다. 실수를 == 로 비교하면 안 되는 이유다.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50976" y="4700016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0.1을 10번 더하면 1.00000012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401568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10528" y="3657600"/>
            <a:ext cx="548640" cy="548640"/>
          </a:xfrm>
          <a:prstGeom prst="ellipse">
            <a:avLst/>
          </a:prstGeom>
          <a:solidFill>
            <a:srgbClr val="B23A2E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3657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오류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528816" y="4187952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컴파일도 실행도 멀쩡한데 답이 틀리다. 컴파일러가 잡을 수 없어 개발자의 논리적 사고가 필요하다.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28816" y="4700016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메시지 없음 — 가장 위험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5780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→ 런타임 → 로직 → 반올림 순으로 점점 “조용해서” 더 위험하다. implicit none 과 -Wall 이 조용한 오류를 줄여 준다.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학습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조용한 오류 두 가지, 직접 보기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 나눗셈 — 100°C가 132°F로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03520" cy="2331720"/>
          </a:xfrm>
          <a:prstGeom prst="roundRect">
            <a:avLst>
              <a:gd name="adj" fmla="val 2353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020824"/>
            <a:ext cx="486460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:: nine = 9, five = 5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:: celsius, fahrenheit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celsius = 100.0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fahrenheit = celsius * (nine / five) + 32.0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nine/five = 1, not 1.8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fahrenheit:   132.000000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4370832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4535424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Fortran에서 정수끼리의 나눗셈 9/5 는 1.8이 아니라 1이다. 한쪽을 실수로 바꾸면(real(nine) / five) 212.000000 으로 올바로 나온다. 경고 없이 틀린 답을 내는, 수치 코드에서 가장 흔한 버그다.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0" y="14813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반올림 오차 — 0.1을 열 번 더하면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303520" cy="2331720"/>
          </a:xfrm>
          <a:prstGeom prst="roundRect">
            <a:avLst>
              <a:gd name="adj" fmla="val 2353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2020824"/>
            <a:ext cx="486460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:: total = 0.0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i = 1, 10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total = total + 0.1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do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      :   1.00000012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CE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== 1.0 : 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370832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5E2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28816" y="4535424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1.0이 아니라 1.00000012가 나오고, 1.0과 같은지 묻는 비교는 거짓(F)이 된다. 0.1이 2진수로 정확히 표현되지 않아 생긴 오차가 누적된 결과다. 실수를 == 로 비교해서는 안 된다.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0167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오류는 빨리 만날수록 좋다.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3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정리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303520" cy="3657600"/>
          </a:xfrm>
          <a:prstGeom prst="roundRect">
            <a:avLst>
              <a:gd name="adj" fmla="val 2250"/>
            </a:avLst>
          </a:prstGeom>
          <a:solidFill>
            <a:srgbClr val="1B4429"/>
          </a:solidFill>
          <a:ln w="6350">
            <a:solidFill>
              <a:srgbClr val="1B4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55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언어와 표준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DE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1957년 등장한 세계 최초의 널리 쓰인 고급 언어이며, 빠른 수치 계산 수요로 최근 인기가 다시 오르고 있다.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DE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 Fortran은 Fortran 90 이후를 가리키며, 이 책은 Fortran 2018을 기준선으로 삼는다.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DE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≠ 컴파일러 지원 — 최신 표준은 2023이지만 구현은 그보다 늦을 수 있다.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DE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계산·HPC에 특화되어, 아폴로의 궤적 계산부터 오늘의 기상 예보까지 쓰인다.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36192"/>
            <a:ext cx="5303520" cy="3657600"/>
          </a:xfrm>
          <a:prstGeom prst="roundRect">
            <a:avLst>
              <a:gd name="adj" fmla="val 2250"/>
            </a:avLst>
          </a:prstGeom>
          <a:solidFill>
            <a:srgbClr val="1B4429"/>
          </a:solidFill>
          <a:ln w="6350">
            <a:solidFill>
              <a:srgbClr val="1B4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55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CC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환경과 실습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DE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언어로 쓴 코드는 컴파일러가 기계어로 번역해 CPU와 메모리를 제어한다.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DE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컴파일러는 gfortran, 실습 환경은 코랩. 런타임이 초기화되면 설치 명령을 다시 실행한다.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DE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컴파일 명령: gfortran -O2 -std=f2018 -Wall 파일.f90 -o 실행파일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DE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오류는 컴파일 → 런타임 → 로직 → 반올림 순으로 조용해서 위험하다.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413248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9CCC65"/>
          </a:solidFill>
          <a:ln w="6350">
            <a:solidFill>
              <a:srgbClr val="9CCC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4132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주의할 함정: %%writefile 과 ! 누락 · 정수 나눗셈(로직 에러) · matplotlib 한글 폰트 깨짐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마무리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문제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26464" y="15727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gfortran을 설치하고 gfortran --version 으로 주 버전 번호를 확인하라.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63347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26464" y="24688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hello.f90 을 그대로 작성·컴파일·실행하고 화면 출력과 temp.csv 첫 두 줄을 적어라.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64992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529584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26464" y="33649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 i = -40, 100, 10 을 0, 200, 10 으로 바꾼 뒤 재컴파일 없이 실행하면 결과가 달라지는가?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425696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26464" y="426110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이름과 학번을 각각 다른 줄로 출력하는 myname.f90 을 작성하라.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157216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321808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26464" y="515721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반지름 r = 2.0 인 원의 넓이를 출력하라. pi 는 parameter 로 선언한다.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572768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04304" y="15727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명령에서 -o hello 를 빼면 어떤 실행 파일이 생기는가?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246888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63347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04304" y="24688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직사각형의 가로·세로를 선언하고 넓이와 둘레를 함께 출력하라.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364992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3529584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04304" y="33649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parameter 로 선언한 pi 에 값을 다시 대입하면 어떤 메시지가 나오는가? 이유를 설명하라.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4261104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4425696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04304" y="426110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화씨 32~212도를 20도 간격으로 섭씨 변환해 csv로 출력하고 그래프를 그려라.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5157216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EAF1E6"/>
          </a:solidFill>
          <a:ln w="6350">
            <a:solidFill>
              <a:srgbClr val="EAF1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5321808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04304" y="515721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제곱수 수열(0, 1, 4, 9, 16 …)을 csv로 출력하고 파이썬으로 막대그래프를 그려라.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61081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장에서는 프로그램 단위, 선언부와 실행부, 식별자 규칙과 implicit none 의 원리를 본격적으로 다룬다.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 Fortran 소개와 개발 환경</dc:title>
  <dc:subject>PptxGenJS Presentation</dc:subject>
  <dc:creator>PptxGenJS</dc:creator>
  <cp:lastModifiedBy>PptxGenJS</cp:lastModifiedBy>
  <cp:revision>1</cp:revision>
  <dcterms:created xsi:type="dcterms:W3CDTF">2026-08-19T06:52:42Z</dcterms:created>
  <dcterms:modified xsi:type="dcterms:W3CDTF">2026-08-19T06:52:42Z</dcterms:modified>
</cp:coreProperties>
</file>